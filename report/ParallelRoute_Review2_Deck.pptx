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126480"/>
            <a:ext cx="12191695" cy="18288"/>
          </a:xfrm>
          <a:prstGeom prst="roundRect">
            <a:avLst>
              <a:gd name="adj" fmla="val 45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31720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A541"/>
                </a:solidFill>
                <a:latin typeface="Calibri"/>
              </a:rPr>
              <a:t>HIGH PERFORMANCE COMPUTING  ·  BCSE414L  ·  MINI-PROJECT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ParallelRoute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CFE0E9"/>
                </a:solidFill>
                <a:latin typeface="Cambria"/>
              </a:rPr>
              <a:t>Island-Model Genetic Algorithms for the Travelling Salesman Problem: an HPC Re-Audit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434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Aditya Sahu  ·  23BCE0873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0916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FC3D0"/>
                </a:solidFill>
                <a:latin typeface="Calibri"/>
              </a:rPr>
              <a:t>Platform: Intel Core i5-10210U, 4 physical cores / 8 SMT threads, 1.6 GHz, 6 MB L3, 15 W TDP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What changed since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6920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Platform.  </a:t>
            </a:r>
            <a:r>
              <a:rPr sz="1300" b="0">
                <a:solidFill>
                  <a:srgbClr val="51697A"/>
                </a:solidFill>
                <a:latin typeface="Calibri"/>
              </a:rPr>
              <a:t>Review 1 was measured on an Apple M3. Review 2 measures on the Intel i5-10210U that Review 1 itself named as its target platform but never actually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51759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87751"/>
            <a:ext cx="106920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Scale.  </a:t>
            </a:r>
            <a:r>
              <a:rPr sz="1300" b="0">
                <a:solidFill>
                  <a:srgbClr val="51697A"/>
                </a:solidFill>
                <a:latin typeface="Calibri"/>
              </a:rPr>
              <a:t>1,600+ measured configurations across ten experiments (E1-E10), every one validated: the returned tour must be a permutation of 0..n-1 and its reported length must match an independent recomputation.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364991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00983"/>
            <a:ext cx="106920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Outcome.  </a:t>
            </a:r>
            <a:r>
              <a:rPr sz="1300" b="0">
                <a:solidFill>
                  <a:srgbClr val="51697A"/>
                </a:solidFill>
                <a:latin typeface="Calibri"/>
              </a:rPr>
              <a:t>Zero validation failures. Two Review-1 headline numbers turn out to be measurement artefacts, not parallelism. This deck reports the corrected numbers alongside why the originals were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12080"/>
            <a:ext cx="10874959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5212080"/>
            <a:ext cx="50292" cy="96012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35838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Same code base, same GA, new machine, new protocol.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669280"/>
            <a:ext cx="10454335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Every number that follows was measured on the i5, is reproducible from results/FINDINGS.md, and is never re-rounded or extrapolated.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Headline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547289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21408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C7293"/>
                </a:solidFill>
                <a:latin typeface="Cambria"/>
              </a:rPr>
              <a:t>3.93x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243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Speedup at 8 SMT threads (islands fixed at 8, 2-opt off)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4257" y="1965960"/>
            <a:ext cx="2547289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5425" y="2121408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B3D5C"/>
                </a:solidFill>
                <a:latin typeface="Cambria"/>
              </a:rPr>
              <a:t>7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5425" y="26243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TSPLIB instances solved to the proven optimum, 0.00%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965960"/>
            <a:ext cx="2547289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1315" y="2121408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C7293"/>
                </a:solidFill>
                <a:latin typeface="Cambria"/>
              </a:rPr>
              <a:t>7.8-13.2x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1315" y="26243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Candidate-list 2-opt speedup on the local-search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6037" y="1965960"/>
            <a:ext cx="2547289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7205" y="2121408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C0392B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7205" y="26243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Configurations in which DTAM meaningfully beats fixed migration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10874959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566160"/>
            <a:ext cx="50292" cy="192024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71246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The headline is the method, not a single number.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023360"/>
            <a:ext cx="10454335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Correcting two measurement flaws changed the scaling story; a mechanistic diagnostic (donor availability 0.3-0.6%) explains why the project's adaptive migration policy does not beat the textbook baseline, rather than merely reporting that it does not. Three standard HPC micro-optimisations (cache padding, allocation removal, RNG localisation) produced no measurable gain; the real gain came from a bitset diversity metric and candidate-list 2-opt.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The shared GA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692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Representation.  </a:t>
            </a:r>
            <a:r>
              <a:rPr sz="1250" b="0">
                <a:solidFill>
                  <a:srgbClr val="51697A"/>
                </a:solidFill>
                <a:latin typeface="Calibri"/>
              </a:rPr>
              <a:t>Permutation tour; full precomputed Euclidean distance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14015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50007"/>
            <a:ext cx="10692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Selection.  </a:t>
            </a:r>
            <a:r>
              <a:rPr sz="1250" b="0">
                <a:solidFill>
                  <a:srgbClr val="51697A"/>
                </a:solidFill>
                <a:latin typeface="Calibri"/>
              </a:rPr>
              <a:t>Tournament selection.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89503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825495"/>
            <a:ext cx="10692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Crossover.  </a:t>
            </a:r>
            <a:r>
              <a:rPr sz="1250" b="0">
                <a:solidFill>
                  <a:srgbClr val="51697A"/>
                </a:solidFill>
                <a:latin typeface="Calibri"/>
              </a:rPr>
              <a:t>Order Crossover (OX).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64991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300983"/>
            <a:ext cx="10692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Mutation.  </a:t>
            </a:r>
            <a:r>
              <a:rPr sz="1250" b="0">
                <a:solidFill>
                  <a:srgbClr val="51697A"/>
                </a:solidFill>
                <a:latin typeface="Calibri"/>
              </a:rPr>
              <a:t>Inversion mutation.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40479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776471"/>
            <a:ext cx="10692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Survival.  </a:t>
            </a:r>
            <a:r>
              <a:rPr sz="1250" b="0">
                <a:solidFill>
                  <a:srgbClr val="51697A"/>
                </a:solidFill>
                <a:latin typeface="Calibri"/>
              </a:rPr>
              <a:t>Elitism.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1596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51959"/>
            <a:ext cx="10692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Local search.  </a:t>
            </a:r>
            <a:r>
              <a:rPr sz="1250" b="0">
                <a:solidFill>
                  <a:srgbClr val="51697A"/>
                </a:solidFill>
                <a:latin typeface="Calibri"/>
              </a:rPr>
              <a:t>Bounded 2-opt, first-improvement, optionally with a candidate list and don't-look bits (Review 2's optimisation).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91455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727447"/>
            <a:ext cx="10692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Validation.  </a:t>
            </a:r>
            <a:r>
              <a:rPr sz="1250" b="0">
                <a:solidFill>
                  <a:srgbClr val="51697A"/>
                </a:solidFill>
                <a:latin typeface="Calibri"/>
              </a:rPr>
              <a:t>validate_tour(): permutation check + independent length recomputation, run on every measured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06440"/>
            <a:ext cx="10874959" cy="685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50292" cy="68580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95274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One core, three engines.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6263640"/>
            <a:ext cx="10454335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Serial, fixed-migration island (P1), and DTAM (P2) all call the same GA operators, so differences between them are due to parallel structure and migration policy, not different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The three engines and the fairness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874959" cy="457200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9383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1929383"/>
            <a:ext cx="6839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8048" y="1929383"/>
            <a:ext cx="1709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86583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serial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86583"/>
            <a:ext cx="6839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One panmictic population of size P on one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8048" y="2386583"/>
            <a:ext cx="1709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88919"/>
            <a:ext cx="10874959" cy="457200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43783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island-fixed (P1)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843783"/>
            <a:ext cx="6839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I islands of P/I; ring neighbour's best-K over own worst-K, every fixed interval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2843783"/>
            <a:ext cx="1709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Naive 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00983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island-dtam (P2)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3300983"/>
            <a:ext cx="6839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Same engine; migrates only when diversity collapses, pulls from the most different island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3300983"/>
            <a:ext cx="1709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Adaptive parallel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60520"/>
            <a:ext cx="1087495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160520"/>
            <a:ext cx="50292" cy="210312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Fairness protocol.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17720"/>
            <a:ext cx="1045433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Speedup is measured with 2-opt off, where work per generation is fixed and identical across engines. --islands decouples island count from thread count, so I is held constant while T is swept. Because each island owns an RNG stream keyed by its own id, every thread count produces a bit-identical search trajectory - verified, not assumed - leaving wall-clock as the only variable. Quality is measured separately under an equal wall-clock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DTAM, in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692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1. Measure diversity.  </a:t>
            </a:r>
            <a:r>
              <a:rPr sz="1250" b="0">
                <a:solidFill>
                  <a:srgbClr val="51697A"/>
                </a:solidFill>
                <a:latin typeface="Calibri"/>
              </a:rPr>
              <a:t>Mean edge-set distance between the island's population and its own best tour; low value means the island has converged.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05455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7"/>
            <a:ext cx="10692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2. Publish a signature.  </a:t>
            </a:r>
            <a:r>
              <a:rPr sz="1250" b="0">
                <a:solidFill>
                  <a:srgbClr val="51697A"/>
                </a:solidFill>
                <a:latin typeface="Calibri"/>
              </a:rPr>
              <a:t>The island's best tour, readable by peer islands.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72383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08375"/>
            <a:ext cx="10692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3. Flag stagnation.  </a:t>
            </a:r>
            <a:r>
              <a:rPr sz="1250" b="0">
                <a:solidFill>
                  <a:srgbClr val="51697A"/>
                </a:solidFill>
                <a:latin typeface="Calibri"/>
              </a:rPr>
              <a:t>If diversity &lt; tau.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39311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75303"/>
            <a:ext cx="10692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4. Pull migrants.  </a:t>
            </a:r>
            <a:r>
              <a:rPr sz="1250" b="0">
                <a:solidFill>
                  <a:srgbClr val="51697A"/>
                </a:solidFill>
                <a:latin typeface="Calibri"/>
              </a:rPr>
              <a:t>A stagnating island imports the best K individuals from the non-stagnating island whose signature is most different from its own (falling back to the most distant island overall if every peer is stagnating), overwriting its own worst 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09160"/>
            <a:ext cx="10874959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4709160"/>
            <a:ext cx="50292" cy="146304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85546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Three design shifts against P1.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166360"/>
            <a:ext cx="10454335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Fixed schedule -&gt; diversity-triggered. Fixed ring neighbour -&gt; runtime-selected distant source. Push -&gt; pull. All three are evaluated later against the stock DTAM result, not just asserted.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The OpenMP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874959" cy="1874519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10362895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CFE0E9"/>
                </a:solidFill>
                <a:latin typeface="Consolas"/>
              </a:rPr>
              <a:t>#pragma omp parallel num_threads(T)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CFE0E9"/>
                </a:solidFill>
                <a:latin typeface="Consolas"/>
              </a:rPr>
              <a:t>  loop over epochs: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CFE0E9"/>
                </a:solidFill>
                <a:latin typeface="Consolas"/>
              </a:rPr>
              <a:t>     [omp for over islands]  evolve E generations, publish state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CFE0E9"/>
                </a:solidFill>
                <a:latin typeface="Consolas"/>
              </a:rPr>
              <a:t>     ---- implicit barrier: every publish visible before any read ----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CFE0E9"/>
                </a:solidFill>
                <a:latin typeface="Consolas"/>
              </a:rPr>
              <a:t>     [omp for over islands]  migrate (read peers' slots, write own)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CFE0E9"/>
                </a:solidFill>
                <a:latin typeface="Consolas"/>
              </a:rPr>
              <a:t>     ---- implicit barrier ----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CFE0E9"/>
                </a:solidFill>
                <a:latin typeface="Consolas"/>
              </a:rPr>
              <a:t>     [omp single]            global best, logging, termination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87368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023360"/>
            <a:ext cx="10692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No locks needed.  </a:t>
            </a:r>
            <a:r>
              <a:rPr sz="1250" b="0">
                <a:solidFill>
                  <a:srgbClr val="51697A"/>
                </a:solidFill>
                <a:latin typeface="Calibri"/>
              </a:rPr>
              <a:t>Each thread touches only its own island's data during evolution; barriers order publish-before-read and migrate-before-next-epoch.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654296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10692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B3D5C"/>
                </a:solidFill>
                <a:latin typeface="Calibri"/>
              </a:rPr>
              <a:t>--islands decouples decomposition from thread count.  </a:t>
            </a:r>
            <a:r>
              <a:rPr sz="1250" b="0">
                <a:solidFill>
                  <a:srgbClr val="51697A"/>
                </a:solidFill>
                <a:latin typeface="Calibri"/>
              </a:rPr>
              <a:t>Holding island count fixed and sweeping threads produces a bit-identical search trajectory at every thread count - verified, not assumed - so wall-clock is the only variable.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MEASUREMENT FLAWS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Flaw 1: “equal work” was not equal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69207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The problem.  </a:t>
            </a:r>
            <a:r>
              <a:rPr sz="1300" b="0">
                <a:solidFill>
                  <a:srgbClr val="51697A"/>
                </a:solidFill>
                <a:latin typeface="Calibri"/>
              </a:rPr>
              <a:t>2-opt is first-improvement local search: its cost depends on how good the tour already is. Two runs performing the same number of fitness evaluations do not perform the same amount of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0720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43199"/>
            <a:ext cx="1069207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The measurement.  </a:t>
            </a:r>
            <a:r>
              <a:rPr sz="1300" b="0">
                <a:solidFill>
                  <a:srgbClr val="51697A"/>
                </a:solidFill>
                <a:latin typeface="Calibri"/>
              </a:rPr>
              <a:t>Correlation between tour length and wall-clock at fixed thread count: +0.15 to +0.31, with a 6-8% time spread and 4.8% length spread. The effect is real and in the predicted direction, though modest.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611879"/>
            <a:ext cx="1069207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The fix.  </a:t>
            </a:r>
            <a:r>
              <a:rPr sz="1300" b="0">
                <a:solidFill>
                  <a:srgbClr val="51697A"/>
                </a:solidFill>
                <a:latin typeface="Calibri"/>
              </a:rPr>
              <a:t>Speedup is measured with 2-opt off, where work per generation is fixed; quality is measured separately under an equal wall-clock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074920"/>
            <a:ext cx="10874959" cy="1097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5074920"/>
            <a:ext cx="50292" cy="109728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22122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Why it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532120"/>
            <a:ext cx="104543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Under the original protocol, island-dtam at 2 threads finished in 7.68 s while island-fixed at 2 threads took 14.79 s - a 1.9x gap between two engines doing nominally identical work, driven by tour quality, not by parallelism.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MEASUREMENT FLAWS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Flaw 2: speedup conflated parallelism with a cache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547209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B3D5C"/>
                </a:solidFill>
                <a:latin typeface="Calibri"/>
              </a:rPr>
              <a:t>The problem.  </a:t>
            </a:r>
            <a:r>
              <a:rPr sz="1200" b="0">
                <a:solidFill>
                  <a:srgbClr val="51697A"/>
                </a:solidFill>
                <a:latin typeface="Calibri"/>
              </a:rPr>
              <a:t>The frozen engine hard-wires one island per thread, so island_pop = P/T. Raising T adds parallelism and shrinks the per-thread working set at the same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1576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651759"/>
            <a:ext cx="547209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B3D5C"/>
                </a:solidFill>
                <a:latin typeface="Calibri"/>
              </a:rPr>
              <a:t>The numbers.  </a:t>
            </a:r>
            <a:r>
              <a:rPr sz="1200" b="0">
                <a:solidFill>
                  <a:srgbClr val="51697A"/>
                </a:solidFill>
                <a:latin typeface="Calibri"/>
              </a:rPr>
              <a:t>240 individuals x 500 ints ~ 480 KB overflows L2. 30 individuals ~ 60 KB fits comfortably.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9300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428999"/>
            <a:ext cx="547209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B3D5C"/>
                </a:solidFill>
                <a:latin typeface="Calibri"/>
              </a:rPr>
              <a:t>The fix.  </a:t>
            </a:r>
            <a:r>
              <a:rPr sz="1200" b="0">
                <a:solidFill>
                  <a:srgbClr val="51697A"/>
                </a:solidFill>
                <a:latin typeface="Calibri"/>
              </a:rPr>
              <a:t>--islands decouples island count from thread count; every thread count now produces a bit-identical search trajectory.</a:t>
            </a:r>
          </a:p>
        </p:txBody>
      </p:sp>
      <p:pic>
        <p:nvPicPr>
          <p:cNvPr id="11" name="Picture 10" descr="i5_protocol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595" y="1874519"/>
            <a:ext cx="4893731" cy="35234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Figure: i5_protocol_effect.png - wall-clock under the original entangled protocol versus the decoupled --islands protocol.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Strong scaling (E1): islands fixed at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6089977" cy="310896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37944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837944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time 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1837944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speedup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8" y="1837944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eff.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837944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K-F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14884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4.240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14884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1.00x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148840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148840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04872"/>
            <a:ext cx="6089977" cy="310896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59736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459736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2.162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459736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1.96x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2459736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459736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770632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2770632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1.706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2770632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2.49x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2770632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770632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0.104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026664"/>
            <a:ext cx="6089977" cy="310896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081528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3081528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1.284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3081528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3.30x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8" y="3081528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3081528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0.070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392424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3392424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1.498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1488" y="3392424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2.83x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33088" y="3392424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3392424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0.224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648456"/>
            <a:ext cx="6089977" cy="310896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703320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370332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1.080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370332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3.93x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33088" y="3703320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8928" y="3703320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0.148</a:t>
            </a:r>
          </a:p>
        </p:txBody>
      </p:sp>
      <p:pic>
        <p:nvPicPr>
          <p:cNvPr id="44" name="Picture 43" descr="i5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343" y="1783080"/>
            <a:ext cx="4349983" cy="1702167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58368" y="4160520"/>
            <a:ext cx="10874959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160520"/>
            <a:ext cx="50292" cy="196596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" y="430682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Why p = 6 is slower than p = 4 - and it is not noise.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" y="4617720"/>
            <a:ext cx="10454335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Islands are distributed with schedule(static); an epoch costs ceil(I/p) island-units. With I = 8, both p = 6 and p = 4 cost 2 units, and p = 6 additionally contends for 4 physical cores. Amdahl fit: serial fraction f = 0.155, implying a ceiling of 6.47x. The i5 scales considerably better than the M3 (3.93x vs ~2.5x), confirming Review 1's speculation that homogeneous cores scale more evenly than the M3's performance/efficiency core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Where the time actually goes (E7 / E8)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i5_epoch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83080"/>
            <a:ext cx="6089977" cy="2267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83343" y="1847088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6223" y="1783080"/>
            <a:ext cx="4167103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E7.  </a:t>
            </a:r>
            <a:r>
              <a:rPr sz="1150" b="0">
                <a:solidFill>
                  <a:srgbClr val="51697A"/>
                </a:solidFill>
                <a:latin typeface="Calibri"/>
              </a:rPr>
              <a:t>At p=1 there are no barriers at all, yet time still falls 3x as epoch length grows 1 -&gt; 250. The dominant cost is per-epoch serial bookkeeping, not synchronisation.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83343" y="2898648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223" y="2834640"/>
            <a:ext cx="4167103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E8.  </a:t>
            </a:r>
            <a:r>
              <a:rPr sz="1150" b="0">
                <a:solidFill>
                  <a:srgbClr val="51697A"/>
                </a:solidFill>
                <a:latin typeface="Calibri"/>
              </a:rPr>
              <a:t>But longer epochs complete more generations and still produce worse tours: uniform-500 goes 23949 -&gt; 30402 -&gt; ... as epoch length grows; clustered-600 is +42% worse at epoch 200 vs epoch 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212080"/>
            <a:ext cx="10874959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5212080"/>
            <a:ext cx="50292" cy="100584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5838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The default epoch length stays at 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669280"/>
            <a:ext cx="1045433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Migration is load-bearing: E7 alone would have justified raising the epoch length; measuring quality shows it is a Pareto trade. A speed number without a quality number is not a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What the engineering bought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10874959" cy="384048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83664"/>
            <a:ext cx="4096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6048" y="1883664"/>
            <a:ext cx="4370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608" y="1883664"/>
            <a:ext cx="1810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67712"/>
            <a:ext cx="4096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Cache-line padding (false sharing)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2267712"/>
            <a:ext cx="4370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0.92-0.99x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6608" y="2267712"/>
            <a:ext cx="1810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No gain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96896"/>
            <a:ext cx="10874959" cy="384048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51760"/>
            <a:ext cx="4096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Eliminating per-generation heap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651760"/>
            <a:ext cx="4370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included above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2651760"/>
            <a:ext cx="1810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No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35808"/>
            <a:ext cx="4096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Moving RNG to thread-local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035808"/>
            <a:ext cx="4370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0.92-0.99x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3035808"/>
            <a:ext cx="1810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No gain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64992"/>
            <a:ext cx="10874959" cy="384048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419856"/>
            <a:ext cx="4096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Bitset edge-set diversity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419856"/>
            <a:ext cx="4370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~6x on the metric; 1.11-1.16x end-to-end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3419856"/>
            <a:ext cx="1810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Real 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803904"/>
            <a:ext cx="4096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Candidate-list 2-opt + don't-look bits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803904"/>
            <a:ext cx="4370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7.8-13.2x on local search; 10-14x more generations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3803904"/>
            <a:ext cx="1810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Largest gain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34840"/>
            <a:ext cx="10874959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50292" cy="173736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58114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Three textbook HPC optimisations did nothing 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892040"/>
            <a:ext cx="10454335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Cache padding, allocation removal and RNG localisation all measured 0.92-0.99x - slightly slower. Their theoretical cost is real but negligible against ~15,000 operations of useful work per shared write. Guessing at bottlenecks by pattern-matching does not pay; the epoch-length experiment is what located the real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Candidate-list 2-opt (E9)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13</a:t>
            </a:r>
          </a:p>
        </p:txBody>
      </p:sp>
      <p:pic>
        <p:nvPicPr>
          <p:cNvPr id="5" name="Picture 4" descr="i5_fast_two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83080"/>
            <a:ext cx="5654978" cy="21206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48345" y="1783080"/>
            <a:ext cx="4784981" cy="310896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85" y="1837944"/>
            <a:ext cx="2907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instance/mode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7305" y="1837944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3145" y="1837944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85" y="2148840"/>
            <a:ext cx="2907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uniform500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7305" y="2148840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-3.9%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3145" y="2148840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345" y="2404872"/>
            <a:ext cx="4784981" cy="310896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85" y="2459736"/>
            <a:ext cx="2907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uniform500 dtam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305" y="2459736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-3.5%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63145" y="2459736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85" y="2770632"/>
            <a:ext cx="2907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clustered600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305" y="2770632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-2.4%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3145" y="2770632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8345" y="3026664"/>
            <a:ext cx="4784981" cy="310896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85" y="3081528"/>
            <a:ext cx="2907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clustered600 dtam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305" y="3081528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-2.4%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3145" y="3081528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85" y="3392424"/>
            <a:ext cx="2907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kroA200 fixed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305" y="3392424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-0.4%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63145" y="3392424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48345" y="3648456"/>
            <a:ext cx="4784981" cy="310896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85" y="3703320"/>
            <a:ext cx="2907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a280 fixed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305" y="3703320"/>
            <a:ext cx="896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-1.3%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3145" y="3703320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0.0078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74959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349240"/>
            <a:ext cx="50292" cy="91440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49554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Faster and better.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5806440"/>
            <a:ext cx="104543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Don't-look-bit exhaustion converges further than the reference's fixed pass cap. p = 0.0020 is the smallest value attainable with n = 10 paired samples. k = 8 chosen from a sweep (k = 5 loses 9.1% quality).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Correctness: seven TSPLIB instances at 0.00%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874959" cy="384048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9383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1929383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Published optimum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929383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2288" y="1929383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13431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berlin52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313431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7542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313431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7542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313431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0.00%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42615"/>
            <a:ext cx="10874959" cy="384048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97479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eil51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697479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426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697479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426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2697479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0.00%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081527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st70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081527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081527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675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3081527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0.00%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10711"/>
            <a:ext cx="10874959" cy="384048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465575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kroA100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465575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21282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465575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21282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3465575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0.00%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849623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ch150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3849623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6528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849623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6528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849623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0.00%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178807"/>
            <a:ext cx="10874959" cy="384048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233671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kroA200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233671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29368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233671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29368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4233671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0.00%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617719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a280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008" y="4617719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2579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617719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2579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4617719"/>
            <a:ext cx="21762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1697A"/>
                </a:solidFill>
                <a:latin typeface="Calibri"/>
              </a:rPr>
              <a:t>0.00%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074920"/>
            <a:ext cx="10874959" cy="1097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8368" y="5074920"/>
            <a:ext cx="50292" cy="109728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522122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All seven reach the proven optimum within a 3-second budget using candidate-list 2-opt.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" y="5532120"/>
            <a:ext cx="104543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Before that optimisation, kroA200 stalled at 29491, a280 at 2602 and eil51 at 427. Review 1 reported gaps only against the Beardwood-Halton-Hammersley estimate for random points - an asymptotic approximation, not an optimum.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Does the island model actually help? It depends on 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509199" cy="347472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9383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1341" y="1929383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2-opt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2874" y="1929383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4407" y="1929383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Island-fixed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5940" y="1929383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Island-DTAM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7473" y="1929383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Parallel vs serial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76855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clustered-600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1341" y="2276855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2874" y="2276855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27297.2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4407" y="2276855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7100.1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5940" y="2276855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7695.7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7473" y="2276855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E7A5A"/>
                </a:solidFill>
                <a:latin typeface="Calibri"/>
              </a:rPr>
              <a:t>-74.0%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569463"/>
            <a:ext cx="10509199" cy="347472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624327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uniform-500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1341" y="2624327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2874" y="2624327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67353.2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4407" y="2624327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21046.2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5940" y="2624327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21274.7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7473" y="2624327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E7A5A"/>
                </a:solidFill>
                <a:latin typeface="Calibri"/>
              </a:rPr>
              <a:t>-68.8%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971799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clustered-600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1341" y="2971799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2874" y="2971799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5361.5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4407" y="2971799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5320.9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5940" y="2971799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5331.8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7473" y="2971799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C0392B"/>
                </a:solidFill>
                <a:latin typeface="Calibri"/>
              </a:rPr>
              <a:t>-0.8%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264407"/>
            <a:ext cx="10509199" cy="347472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319271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uniform-500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1341" y="3319271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2874" y="3319271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17714.9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4407" y="3319271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17280.9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5940" y="3319271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1697A"/>
                </a:solidFill>
                <a:latin typeface="Calibri"/>
              </a:rPr>
              <a:t>17205.6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7473" y="3319271"/>
            <a:ext cx="16418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C0392B"/>
                </a:solidFill>
                <a:latin typeface="Calibri"/>
              </a:rPr>
              <a:t>-2.5%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977639"/>
            <a:ext cx="10509199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3977639"/>
            <a:ext cx="50292" cy="123444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23943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Without local search the island engines find 68-74% shorter tours. With it, 0.8-2.5%.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4434839"/>
            <a:ext cx="1008857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2-opt does most of the optimisation and keeps even the serial GA competitive per generation. Review 1 quoted the 60-67% figure without stating that it holds only with local search disabled. A number reported without its operating conditions is not a result: this is the same methodological point as the epoch-length trade-off.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44068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Equal 4 s budget, 12 seeds, median tour length. On TSPLIB with local search all three engines are indistinguishable, because all of them reach the published optimum.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THE DTAM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Part 1: diversity collapses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10874959" cy="329184"/>
          </a:xfrm>
          <a:prstGeom prst="roundRect">
            <a:avLst>
              <a:gd name="adj" fmla="val 45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37944"/>
            <a:ext cx="1353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9337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826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315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8804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5293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782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8271" y="1837944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353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diversity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0.224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9337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5826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315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8804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5293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1782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8271" y="2167128"/>
            <a:ext cx="10667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1697A"/>
                </a:solidFill>
                <a:latin typeface="Calibri"/>
              </a:rPr>
              <a:t>0.004</a:t>
            </a:r>
          </a:p>
        </p:txBody>
      </p:sp>
      <p:pic>
        <p:nvPicPr>
          <p:cNvPr id="24" name="Picture 23" descr="i5_tau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43200"/>
            <a:ext cx="5437479" cy="362498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639595" y="2852928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2475" y="2788920"/>
            <a:ext cx="47108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Whole run.  </a:t>
            </a:r>
            <a:r>
              <a:rPr sz="1150" b="0">
                <a:solidFill>
                  <a:srgbClr val="51697A"/>
                </a:solidFill>
                <a:latin typeface="Calibri"/>
              </a:rPr>
              <a:t>min 0.0029, max 0.2236, mean 0.0181. Islands collapse to near-clones within ~100 generations.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39595" y="3767328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2475" y="3703320"/>
            <a:ext cx="47108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tau = 0.15 fires on 99.7% of island-epochs.  </a:t>
            </a:r>
            <a:r>
              <a:rPr sz="1150" b="0">
                <a:solidFill>
                  <a:srgbClr val="51697A"/>
                </a:solidFill>
                <a:latin typeface="Calibri"/>
              </a:rPr>
              <a:t>It sits far above the metric's entire operating range. Only tau = 0 stops migration, and that is far worse (46382 vs ~31000).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1264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Figure: i5_tau_sweep.png - trigger rate vs tau, 100% down to 78.55% across the sweep.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THE DTAM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Part 2: donor availability 0.3-0.6%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10874959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50292" cy="155448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6654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The key diagnostic of the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77440"/>
            <a:ext cx="1045433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New instrumentation counts how often DTAM finds a genuinely non-stagnating donor, versus falling through to its “most distant island overall” fallback. Across the 10-seed factorial, stock DTAM finds a healthy donor on only 0.3-0.6% of migrations.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1304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49039"/>
            <a:ext cx="10692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The mechanism is almost never exercised as designed.  </a:t>
            </a:r>
            <a:r>
              <a:rPr sz="1300" b="0">
                <a:solidFill>
                  <a:srgbClr val="51697A"/>
                </a:solidFill>
                <a:latin typeface="Calibri"/>
              </a:rPr>
              <a:t>On more than 99% of migrations the distant-source-pull mechanism - the project's actual contribution - does not fire as intended, because every island has collapsed simultaneously and there is no healthy donor to pull from.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72744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63439"/>
            <a:ext cx="10692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Why this matters more than a null result.  </a:t>
            </a:r>
            <a:r>
              <a:rPr sz="1300" b="0">
                <a:solidFill>
                  <a:srgbClr val="51697A"/>
                </a:solidFill>
                <a:latin typeface="Calibri"/>
              </a:rPr>
              <a:t>It identifies why DTAM does not beat fixed migration: the cause is premature convergence, not a flaw in the migration policy itself.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THE DTAM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Part 3: the E10 rescue 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i5_dtam_fac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83080"/>
            <a:ext cx="5872477" cy="2217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65844" y="1847088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8724" y="1783080"/>
            <a:ext cx="438460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Heterogeneous island parameters help.  </a:t>
            </a:r>
            <a:r>
              <a:rPr sz="1150" b="0">
                <a:solidFill>
                  <a:srgbClr val="51697A"/>
                </a:solidFill>
                <a:latin typeface="Calibri"/>
              </a:rPr>
              <a:t>The only mechanism that consistently improves on stock DTAM (-2.8% uniform, -4.9% clustered); triples donor availability, but does not close the gap to fixed migration.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5844" y="3081528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8724" y="3017520"/>
            <a:ext cx="438460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The relative trigger works exactly as designed - and that makes it worse.  </a:t>
            </a:r>
            <a:r>
              <a:rPr sz="1150" b="0">
                <a:solidFill>
                  <a:srgbClr val="51697A"/>
                </a:solidFill>
                <a:latin typeface="Calibri"/>
              </a:rPr>
              <a:t>Discrimination is restored (99.8% -&gt; ~31% firing, donor availability -&gt; 100%), and quality drops 18-20%, because migration is the dominant source of genetic material once islands collapse.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394960"/>
            <a:ext cx="10874959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5394960"/>
            <a:ext cx="50292" cy="86868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54126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DTAM's core premise is wrong for this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852160"/>
            <a:ext cx="1045433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The right policy here is to migrate constantly, demonstrated mechanistically rather than asserted.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Novelty, honestly stated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69207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B3D5C"/>
                </a:solidFill>
                <a:latin typeface="Calibri"/>
              </a:rPr>
              <a:t>1. A specific policy design.  </a:t>
            </a:r>
            <a:r>
              <a:rPr sz="1200" b="0">
                <a:solidFill>
                  <a:srgbClr val="51697A"/>
                </a:solidFill>
                <a:latin typeface="Calibri"/>
              </a:rPr>
              <a:t>The combination of a stagnation trigger with distant-source pull selection chosen at runtime is self-implemented. Incremental, and presented as such.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34639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70631"/>
            <a:ext cx="1069207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B3D5C"/>
                </a:solidFill>
                <a:latin typeface="Calibri"/>
              </a:rPr>
              <a:t>2. An HPC-framed evaluation that changed the answer.  </a:t>
            </a:r>
            <a:r>
              <a:rPr sz="1200" b="0">
                <a:solidFill>
                  <a:srgbClr val="51697A"/>
                </a:solidFill>
                <a:latin typeface="Calibri"/>
              </a:rPr>
              <a:t>Reporting speedup, efficiency, Karp-Flatt and Amdahl alongside quality exposed two Review-1 headline numbers as measurement artefacts and located the real bottleneck.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30751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666743"/>
            <a:ext cx="1069207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B3D5C"/>
                </a:solidFill>
                <a:latin typeface="Calibri"/>
              </a:rPr>
              <a:t>3. A cost-versus-quality framing the literature does not contain.  </a:t>
            </a:r>
            <a:r>
              <a:rPr sz="1200" b="0">
                <a:solidFill>
                  <a:srgbClr val="51697A"/>
                </a:solidFill>
                <a:latin typeface="Calibri"/>
              </a:rPr>
              <a:t>No surveyed adaptive-migration paper measures the runtime cost of an adaptive migration decision. “8.6% better per generation, 8.4% worse per second” is exactly the trade-off that framing hides.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26863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562855"/>
            <a:ext cx="1069207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B3D5C"/>
                </a:solidFill>
                <a:latin typeface="Calibri"/>
              </a:rPr>
              <a:t>4. A mechanistically diagnosed negative result.  </a:t>
            </a:r>
            <a:r>
              <a:rPr sz="1200" b="0">
                <a:solidFill>
                  <a:srgbClr val="51697A"/>
                </a:solidFill>
                <a:latin typeface="Calibri"/>
              </a:rPr>
              <a:t>Donor-availability instrumentation shows the proposed mechanism fires as designed on under 1% of migrations - a more useful finding than a null result, because it identifies why.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806440"/>
            <a:ext cx="10874959" cy="7132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5806440"/>
            <a:ext cx="50292" cy="713232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95274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What this does not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6263640"/>
            <a:ext cx="1045433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No configuration was found in which DTAM meaningfully beats fixed migration.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3D5C"/>
                </a:solidFill>
                <a:latin typeface="Cambria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FC3D0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692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Conclusion.  </a:t>
            </a:r>
            <a:r>
              <a:rPr sz="1300" b="0">
                <a:solidFill>
                  <a:srgbClr val="51697A"/>
                </a:solidFill>
                <a:latin typeface="Calibri"/>
              </a:rPr>
              <a:t>On the stated target hardware, the shared GA core scales to 3.93x at 8 SMT threads once measurement flaws are removed; candidate-list 2-opt is the largest engineering gain and solves all seven TSPLIB instances to proven optimum; DTAM does not beat fixed migration, and the reason - donor availability under 1% - is now demonstrated rather than guessed 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10127"/>
            <a:ext cx="50292" cy="173736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46119"/>
            <a:ext cx="10692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Future work.  </a:t>
            </a:r>
            <a:r>
              <a:rPr sz="1300" b="0">
                <a:solidFill>
                  <a:srgbClr val="51697A"/>
                </a:solidFill>
                <a:latin typeface="Calibri"/>
              </a:rPr>
              <a:t>Test heterogeneous island parameters at other spreads. Sweep tau on more than one instance family. Increase E1 seed count for the equal-work DTAM comparison beyond 3 pairs. Extend beyond Euclidean TSP and beyond one GA operator set to see whether the migrate-constantly finding generalises.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486400"/>
            <a:ext cx="10874959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5486400"/>
            <a:ext cx="50292" cy="105156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63270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3D5C"/>
                </a:solidFill>
                <a:latin typeface="Calibri"/>
              </a:rPr>
              <a:t>Known limitations, stated plainly.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943600"/>
            <a:ext cx="104543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697A"/>
                </a:solidFill>
                <a:latin typeface="Calibri"/>
              </a:rPr>
              <a:t>Euclidean TSP only, one machine, one GA operator set. Results at 6 and 8 threads use SMT, where efficiency past 4 physical cores is expected to fall.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